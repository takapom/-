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98755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Yu Gothic"/>
              </a:rPr>
              <a:t>自然言語UAVミッション変換ハーネス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38528"/>
            <a:ext cx="7498079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700" b="1">
                <a:solidFill>
                  <a:srgbClr val="0F766E"/>
                </a:solidFill>
                <a:latin typeface="Yu Gothic"/>
              </a:rPr>
              <a:t>進捗サマリと現行アーキテクチャ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514600"/>
            <a:ext cx="81381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Yu Gothic"/>
              </a:rPr>
              <a:t>Mission IR / Validator / Emitter / SITL Gate / 評価ログ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3246120"/>
            <a:ext cx="1572768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Hiragino Sans"/>
              </a:rPr>
              <a:t>Natural Language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88336" y="3246120"/>
            <a:ext cx="1572768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Hiragino Sans"/>
              </a:rPr>
              <a:t>Mission 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08576" y="3246120"/>
            <a:ext cx="1572768" cy="34747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Hiragino Sans"/>
              </a:rPr>
              <a:t>SITL Gate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28816" y="3246120"/>
            <a:ext cx="1572768" cy="347472"/>
          </a:xfrm>
          <a:prstGeom prst="round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Hiragino Sans"/>
              </a:rPr>
              <a:t>Evaluation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4297680"/>
            <a:ext cx="3474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43800" y="4297680"/>
            <a:ext cx="73152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462272"/>
            <a:ext cx="30632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Yu Gothic"/>
              </a:rPr>
              <a:t>Current 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800600"/>
            <a:ext cx="3063240" cy="3931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30" b="0">
                <a:solidFill>
                  <a:srgbClr val="475569"/>
                </a:solidFill>
                <a:latin typeface="Yu Gothic"/>
              </a:rPr>
              <a:t>目的地command生成は成功。SITL到達成功は未確認。現状態ではPreflightが実行を止める。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19088"/>
            <a:ext cx="48463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Yu Gothic"/>
              </a:rPr>
              <a:t>Natural-Language UAV Mission Harness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Yu Gothic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Yu Gothic"/>
              </a:rPr>
              <a:t>研究の位置づけ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9875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Yu Gothic"/>
              </a:rPr>
              <a:t>LLMで直接ドローンを飛ばすのではなく、安全制約付き変換ハーネスを研究対象にする。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73152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73352"/>
            <a:ext cx="30175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Yu Gothic"/>
              </a:rPr>
              <a:t>対象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3017520" cy="7589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30" b="0">
                <a:solidFill>
                  <a:srgbClr val="475569"/>
                </a:solidFill>
                <a:latin typeface="Yu Gothic"/>
              </a:rPr>
              <a:t>自然言語で与えられるUAVミッション生成・変更を、実行可能なMission IRへ変換する。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0876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73352"/>
            <a:ext cx="30175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Yu Gothic"/>
              </a:rPr>
              <a:t>境界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11680"/>
            <a:ext cx="3017520" cy="7589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30" b="0">
                <a:solidFill>
                  <a:srgbClr val="475569"/>
                </a:solidFill>
                <a:latin typeface="Yu Gothic"/>
              </a:rPr>
              <a:t>LLMは高レベル仕様・修復案に限定。低レベル制御はArduPilot/Pixhawkに残す。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087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508760"/>
            <a:ext cx="73152" cy="1417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673352"/>
            <a:ext cx="30175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Yu Gothic"/>
              </a:rPr>
              <a:t>評価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011680"/>
            <a:ext cx="3017520" cy="7589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30" b="0">
                <a:solidFill>
                  <a:srgbClr val="475569"/>
                </a:solidFill>
                <a:latin typeface="Yu Gothic"/>
              </a:rPr>
              <a:t>SITL、Validator、Runtime Monitor、評価ログで安全性と再現性を測る。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703320"/>
            <a:ext cx="9875520" cy="1463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  <a:latin typeface="Hiragino Sans"/>
              </a:defRPr>
            </a:pPr>
            <a:r>
              <a:t>主張: Mission IR + 決定的Validator + SITL Gateにより、直接コード生成より安全な変換経路を作る。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  <a:latin typeface="Hiragino Sans"/>
              </a:defRPr>
            </a:pPr>
            <a:r>
              <a:t>初期比較: C0 Direct Code / C2 Mission IR / C6 Patch Harness。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  <a:latin typeface="Hiragino Sans"/>
              </a:defRPr>
            </a:pPr>
            <a:r>
              <a:t>現段階: 実機ではなくArduPilot SITL上の再現可能な評価に集中。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48463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Yu Gothic"/>
              </a:rPr>
              <a:t>Natural-Language UAV Mission Harness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Yu Gothic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Yu Gothic"/>
              </a:rPr>
              <a:t>ここまでの実装進捗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9875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Yu Gothic"/>
              </a:rPr>
              <a:t>自然言語からMission IR、MAVLink command、評価ログまでの骨格が動作する。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074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10789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90472"/>
            <a:ext cx="46634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Yu Gothic"/>
              </a:rPr>
              <a:t>Mission 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66344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30" b="0">
                <a:solidFill>
                  <a:srgbClr val="475569"/>
                </a:solidFill>
                <a:latin typeface="Yu Gothic"/>
              </a:rPr>
              <a:t>Pydantic schema / local NED action / constraints / patch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074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73152" cy="10789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90472"/>
            <a:ext cx="46634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Yu Gothic"/>
              </a:rPr>
              <a:t>Validator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28800"/>
            <a:ext cx="466344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30" b="0">
                <a:solidFill>
                  <a:srgbClr val="475569"/>
                </a:solidFill>
                <a:latin typeface="Yu Gothic"/>
              </a:rPr>
              <a:t>高度・速度・geofence・no-fly・危険指示を決定的に判定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34639"/>
            <a:ext cx="5074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834639"/>
            <a:ext cx="73152" cy="10789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999231"/>
            <a:ext cx="46634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Yu Gothic"/>
              </a:rPr>
              <a:t>Emitter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37559"/>
            <a:ext cx="466344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30" b="0">
                <a:solidFill>
                  <a:srgbClr val="475569"/>
                </a:solidFill>
                <a:latin typeface="Yu Gothic"/>
              </a:rPr>
              <a:t>検証済みIRをMAVLink commandへ固定変換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34639"/>
            <a:ext cx="5074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834639"/>
            <a:ext cx="73152" cy="1078992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999231"/>
            <a:ext cx="46634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Yu Gothic"/>
              </a:rPr>
              <a:t>NL Generator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337559"/>
            <a:ext cx="466344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30" b="0">
                <a:solidFill>
                  <a:srgbClr val="475569"/>
                </a:solidFill>
                <a:latin typeface="Yu Gothic"/>
              </a:rPr>
              <a:t>日本語地点指示、inline local offset、外部geo opt-in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343400"/>
            <a:ext cx="5074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343400"/>
            <a:ext cx="73152" cy="10789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07992"/>
            <a:ext cx="46634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Yu Gothic"/>
              </a:rPr>
              <a:t>SITL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46320"/>
            <a:ext cx="466344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30" b="0">
                <a:solidFill>
                  <a:srgbClr val="475569"/>
                </a:solidFill>
                <a:latin typeface="Yu Gothic"/>
              </a:rPr>
              <a:t>Preflight / segmented goto / progress monitor / reset-required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343400"/>
            <a:ext cx="5074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343400"/>
            <a:ext cx="73152" cy="10789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507992"/>
            <a:ext cx="46634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Yu Gothic"/>
              </a:rPr>
              <a:t>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846320"/>
            <a:ext cx="466344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30" b="0">
                <a:solidFill>
                  <a:srgbClr val="475569"/>
                </a:solidFill>
                <a:latin typeface="Yu Gothic"/>
              </a:rPr>
              <a:t>C0/C2/C6比較、JSONLログ、pytest 61 passed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19088"/>
            <a:ext cx="48463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Yu Gothic"/>
              </a:rPr>
              <a:t>Natural-Language UAV Mission Harness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Yu Gothic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Yu Gothic"/>
              </a:rPr>
              <a:t>現行アーキテクチャ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9875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Yu Gothic"/>
              </a:rPr>
              <a:t>人間の自然言語を、検証可能なMission IRと決定的なSITL commandへ落とす。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515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/>
          <a:lstStyle/>
          <a:p>
            <a:pPr algn="ctr"/>
            <a:r>
              <a:rPr sz="869">
                <a:solidFill>
                  <a:srgbClr val="0F172A"/>
                </a:solidFill>
                <a:latin typeface="Hiragino Sans"/>
              </a:rPr>
              <a:t>日本語タスク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37360" y="2267712"/>
            <a:ext cx="182880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965960" y="1874519"/>
            <a:ext cx="11887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/>
          <a:lstStyle/>
          <a:p>
            <a:pPr algn="ctr"/>
            <a:r>
              <a:rPr sz="869">
                <a:solidFill>
                  <a:srgbClr val="0F172A"/>
                </a:solidFill>
                <a:latin typeface="Hiragino Sans"/>
              </a:rPr>
              <a:t>NL Parser
/ Geo Resolver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00400" y="2267712"/>
            <a:ext cx="228600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74720" y="1874519"/>
            <a:ext cx="10515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/>
          <a:lstStyle/>
          <a:p>
            <a:pPr algn="ctr"/>
            <a:r>
              <a:rPr sz="869">
                <a:solidFill>
                  <a:srgbClr val="0F172A"/>
                </a:solidFill>
                <a:latin typeface="Hiragino Sans"/>
              </a:rPr>
              <a:t>Mission IR
/ Patch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1999" y="2267712"/>
            <a:ext cx="274321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892040" y="1874519"/>
            <a:ext cx="9601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/>
          <a:lstStyle/>
          <a:p>
            <a:pPr algn="ctr"/>
            <a:r>
              <a:rPr sz="869">
                <a:solidFill>
                  <a:srgbClr val="0F172A"/>
                </a:solidFill>
                <a:latin typeface="Hiragino Sans"/>
              </a:rPr>
              <a:t>Validator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97879" y="2267712"/>
            <a:ext cx="228601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72200" y="1874519"/>
            <a:ext cx="9601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/>
          <a:lstStyle/>
          <a:p>
            <a:pPr algn="ctr"/>
            <a:r>
              <a:rPr sz="869">
                <a:solidFill>
                  <a:srgbClr val="0F172A"/>
                </a:solidFill>
                <a:latin typeface="Hiragino Sans"/>
              </a:rPr>
              <a:t>Emitter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78040" y="2267712"/>
            <a:ext cx="228600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52360" y="1874519"/>
            <a:ext cx="10515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/>
          <a:lstStyle/>
          <a:p>
            <a:pPr algn="ctr"/>
            <a:r>
              <a:rPr sz="869">
                <a:solidFill>
                  <a:srgbClr val="0F172A"/>
                </a:solidFill>
                <a:latin typeface="Hiragino Sans"/>
              </a:rPr>
              <a:t>SITL Gate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49640" y="2267712"/>
            <a:ext cx="320040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915400" y="1874519"/>
            <a:ext cx="9601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/>
          <a:lstStyle/>
          <a:p>
            <a:pPr algn="ctr"/>
            <a:r>
              <a:rPr sz="869">
                <a:solidFill>
                  <a:srgbClr val="0F172A"/>
                </a:solidFill>
                <a:latin typeface="Hiragino Sans"/>
              </a:rPr>
              <a:t>MAVLink
ArduPilot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921240" y="2267712"/>
            <a:ext cx="91440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058400" y="1874519"/>
            <a:ext cx="114300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/>
          <a:lstStyle/>
          <a:p>
            <a:pPr algn="ctr"/>
            <a:r>
              <a:rPr sz="869">
                <a:solidFill>
                  <a:srgbClr val="0F172A"/>
                </a:solidFill>
                <a:latin typeface="Hiragino Sans"/>
              </a:rPr>
              <a:t>Telemetry
/ Eval Log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657600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657600"/>
            <a:ext cx="73152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822192"/>
            <a:ext cx="28346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Yu Gothic"/>
              </a:rPr>
              <a:t>LLM / Codexの責務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160520"/>
            <a:ext cx="283464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30" b="0">
                <a:solidFill>
                  <a:srgbClr val="475569"/>
                </a:solidFill>
                <a:latin typeface="Yu Gothic"/>
              </a:rPr>
              <a:t>自然言語から高レベル仕様を作る。安全判定や低レベル制御の最終責任は持たない。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657600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365760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3822192"/>
            <a:ext cx="28346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Yu Gothic"/>
              </a:rPr>
              <a:t>Harnessの責務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160520"/>
            <a:ext cx="283464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30" b="0">
                <a:solidFill>
                  <a:srgbClr val="475569"/>
                </a:solidFill>
                <a:latin typeface="Yu Gothic"/>
              </a:rPr>
              <a:t>型・制約・状態・実行前後の検査で、実行してよいcommandだけを通す。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1000" y="3657600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01000" y="3657600"/>
            <a:ext cx="73152" cy="1234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3822192"/>
            <a:ext cx="28346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Yu Gothic"/>
              </a:rPr>
              <a:t>ArduPilotの責務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160520"/>
            <a:ext cx="283464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30" b="0">
                <a:solidFill>
                  <a:srgbClr val="475569"/>
                </a:solidFill>
                <a:latin typeface="Yu Gothic"/>
              </a:rPr>
              <a:t>姿勢制御、安定化、MAVLink commandの実行、SITLテレメトリを担う。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19088"/>
            <a:ext cx="48463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Yu Gothic"/>
              </a:rPr>
              <a:t>Natural-Language UAV Mission Harness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Yu Gothic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Yu Gothic"/>
              </a:rPr>
              <a:t>自然言語からMission IRへ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9875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Yu Gothic"/>
              </a:rPr>
              <a:t>Mission IRは自然言語そのものではなく、実行前に検証できる中間表現。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19659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/>
          <a:lstStyle/>
          <a:p>
            <a:pPr algn="ctr"/>
            <a:r>
              <a:rPr sz="1019">
                <a:solidFill>
                  <a:srgbClr val="0F172A"/>
                </a:solidFill>
                <a:latin typeface="Hiragino Sans"/>
              </a:rPr>
              <a:t>「A地点まで行って」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88920" y="1929384"/>
            <a:ext cx="640080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20440" y="1600200"/>
            <a:ext cx="1691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/>
          <a:lstStyle/>
          <a:p>
            <a:pPr algn="ctr"/>
            <a:r>
              <a:rPr sz="1019">
                <a:solidFill>
                  <a:srgbClr val="0F172A"/>
                </a:solidFill>
                <a:latin typeface="Hiragino Sans"/>
              </a:rPr>
              <a:t>意図・地点・高度
待機・着陸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12080" y="1929384"/>
            <a:ext cx="640080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943600" y="1600200"/>
            <a:ext cx="1828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/>
          <a:lstStyle/>
          <a:p>
            <a:pPr algn="ctr"/>
            <a:r>
              <a:rPr sz="1019">
                <a:solidFill>
                  <a:srgbClr val="0F172A"/>
                </a:solidFill>
                <a:latin typeface="Hiragino Sans"/>
              </a:rPr>
              <a:t>Mission IR
JSON/Pydantic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0" y="1929384"/>
            <a:ext cx="640080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03920" y="1600200"/>
            <a:ext cx="1828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/>
          <a:lstStyle/>
          <a:p>
            <a:pPr algn="ctr"/>
            <a:r>
              <a:rPr sz="1019">
                <a:solidFill>
                  <a:srgbClr val="0F172A"/>
                </a:solidFill>
                <a:latin typeface="Hiragino Sans"/>
              </a:rPr>
              <a:t>Validator
accept/reject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337560"/>
            <a:ext cx="9692640" cy="1417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  <a:latin typeface="Hiragino Sans"/>
              </a:defRPr>
            </a:pPr>
            <a:r>
              <a:t>IRに含めるもの: actions, local NED position, constraints, emergency_policy。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  <a:latin typeface="Hiragino Sans"/>
              </a:defRPr>
            </a:pPr>
            <a:r>
              <a:t>IRに含めないもの: 毎回生成される任意Pythonコード、低レベル姿勢制御。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  <a:latin typeface="Hiragino Sans"/>
              </a:defRPr>
            </a:pPr>
            <a:r>
              <a:t>Validatorにより、曖昧・危険・制約違反の候補はSITLへ送らない。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48463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Yu Gothic"/>
              </a:rPr>
              <a:t>Natural-Language UAV Mission Harness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Yu Gothic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Yu Gothic"/>
              </a:rPr>
              <a:t>地名目的地の解決フロー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9875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Yu Gothic"/>
              </a:rPr>
              <a:t>辞書内地点・inline local offset・外部geoの3経路を持つ。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2344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/>
          <a:lstStyle/>
          <a:p>
            <a:pPr algn="ctr"/>
            <a:r>
              <a:rPr sz="1019">
                <a:solidFill>
                  <a:srgbClr val="0F172A"/>
                </a:solidFill>
                <a:latin typeface="Hiragino Sans"/>
              </a:rPr>
              <a:t>自然言語
目的地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65960" y="2194560"/>
            <a:ext cx="502920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560320" y="1143000"/>
            <a:ext cx="13258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/>
          <a:lstStyle/>
          <a:p>
            <a:pPr algn="ctr"/>
            <a:r>
              <a:rPr sz="1019">
                <a:solidFill>
                  <a:srgbClr val="0F172A"/>
                </a:solidFill>
                <a:latin typeface="Hiragino Sans"/>
              </a:rPr>
              <a:t>local_places
辞書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2057400"/>
            <a:ext cx="13258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/>
          <a:lstStyle/>
          <a:p>
            <a:pPr algn="ctr"/>
            <a:r>
              <a:rPr sz="1019">
                <a:solidFill>
                  <a:srgbClr val="0F172A"/>
                </a:solidFill>
                <a:latin typeface="Hiragino Sans"/>
              </a:rPr>
              <a:t>inline NED
北/東/高度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2971800"/>
            <a:ext cx="13258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/>
          <a:lstStyle/>
          <a:p>
            <a:pPr algn="ctr"/>
            <a:r>
              <a:rPr sz="1019">
                <a:solidFill>
                  <a:srgbClr val="0F172A"/>
                </a:solidFill>
                <a:latin typeface="Hiragino Sans"/>
              </a:rPr>
              <a:t>Nominatim
/ Overpass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86200" y="2194560"/>
            <a:ext cx="868680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846320" y="1828800"/>
            <a:ext cx="13258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/>
          <a:lstStyle/>
          <a:p>
            <a:pPr algn="ctr"/>
            <a:r>
              <a:rPr sz="1019">
                <a:solidFill>
                  <a:srgbClr val="0F172A"/>
                </a:solidFill>
                <a:latin typeface="Hiragino Sans"/>
              </a:rPr>
              <a:t>lat/lon
or local NED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72200" y="2194560"/>
            <a:ext cx="685800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949440" y="1828800"/>
            <a:ext cx="14173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/>
          <a:lstStyle/>
          <a:p>
            <a:pPr algn="ctr"/>
            <a:r>
              <a:rPr sz="1019">
                <a:solidFill>
                  <a:srgbClr val="0F172A"/>
                </a:solidFill>
                <a:latin typeface="Hiragino Sans"/>
              </a:rPr>
              <a:t>SITL home
relative NED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66760" y="2194560"/>
            <a:ext cx="685800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0" y="1828800"/>
            <a:ext cx="14173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/>
          <a:lstStyle/>
          <a:p>
            <a:pPr algn="ctr"/>
            <a:r>
              <a:rPr sz="1019">
                <a:solidFill>
                  <a:srgbClr val="0F172A"/>
                </a:solidFill>
                <a:latin typeface="Hiragino Sans"/>
              </a:rPr>
              <a:t>Mission IR
position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663440"/>
            <a:ext cx="4983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663440"/>
            <a:ext cx="73152" cy="9144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828032"/>
            <a:ext cx="45720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Yu Gothic"/>
              </a:rPr>
              <a:t>実装済みの拒否条件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166360"/>
            <a:ext cx="45720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30" b="0">
                <a:solidFill>
                  <a:srgbClr val="475569"/>
                </a:solidFill>
                <a:latin typeface="Yu Gothic"/>
              </a:rPr>
              <a:t>unknown / ambiguous / home未指定 / sensitive facility / geo error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663440"/>
            <a:ext cx="44805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4663440"/>
            <a:ext cx="73152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828032"/>
            <a:ext cx="40690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Yu Gothic"/>
              </a:rPr>
              <a:t>今回の確認例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166360"/>
            <a:ext cx="40690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30" b="0">
                <a:solidFill>
                  <a:srgbClr val="475569"/>
                </a:solidFill>
                <a:latin typeface="Yu Gothic"/>
              </a:rPr>
              <a:t>Alexander Maconochie Centre -&gt; 約1.08km先のlocal NED目標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19088"/>
            <a:ext cx="48463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Yu Gothic"/>
              </a:rPr>
              <a:t>Natural-Language UAV Mission Harness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Yu Gothic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Yu Gothic"/>
              </a:rPr>
              <a:t>SITL実行ガード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9875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Yu Gothic"/>
              </a:rPr>
              <a:t>目的地到達以前に、SITL状態が実行可能かを明示的に確認する。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29844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80744"/>
            <a:ext cx="384048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280160"/>
            <a:ext cx="28346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Yu Gothic"/>
              </a:rPr>
              <a:t>Preflight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298448"/>
            <a:ext cx="667512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Yu Gothic"/>
              </a:rPr>
              <a:t>armed / landed / altitude / speed / batteryを確認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68296"/>
            <a:ext cx="384048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267712"/>
            <a:ext cx="28346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Yu Gothic"/>
              </a:rPr>
              <a:t>Segmented 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286000"/>
            <a:ext cx="667512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Yu Gothic"/>
              </a:rPr>
              <a:t>長距離goto_local_nedを約100m単位へ分割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273552"/>
            <a:ext cx="384048" cy="38404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355848"/>
            <a:ext cx="384048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255264"/>
            <a:ext cx="28346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Yu Gothic"/>
              </a:rPr>
              <a:t>Progress Monitor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273552"/>
            <a:ext cx="667512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Yu Gothic"/>
              </a:rPr>
              <a:t>距離が縮まらない場合はstuckとして停止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261104"/>
            <a:ext cx="384048" cy="384048"/>
          </a:xfrm>
          <a:prstGeom prst="ellipse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343400"/>
            <a:ext cx="384048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242816"/>
            <a:ext cx="28346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Yu Gothic"/>
              </a:rPr>
              <a:t>Reset Required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261104"/>
            <a:ext cx="667512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Yu Gothic"/>
              </a:rPr>
              <a:t>失敗後はnext_required_action: sitl_resetを記録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5532120"/>
            <a:ext cx="98755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" y="5532120"/>
            <a:ext cx="73152" cy="6583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5696712"/>
            <a:ext cx="9464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Yu Gothic"/>
              </a:rPr>
              <a:t>現ファクト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6035040"/>
            <a:ext cx="9464040" cy="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30" b="0">
                <a:solidFill>
                  <a:srgbClr val="475569"/>
                </a:solidFill>
                <a:latin typeface="Yu Gothic"/>
              </a:rPr>
              <a:t>14550ではheartbeatあり。ただしSITL状態がIN_AIRのためPreflightで止め、command_countは0。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19088"/>
            <a:ext cx="48463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Yu Gothic"/>
              </a:rPr>
              <a:t>Natural-Language UAV Mission Harness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Yu Gothic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Yu Gothic"/>
              </a:rPr>
              <a:t>評価設計: C0 / C2 / C6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9875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Yu Gothic"/>
              </a:rPr>
              <a:t>提案方式を一括評価せず、構成要素の効果を分離する。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33375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73152" cy="192024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81912"/>
            <a:ext cx="29260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Yu Gothic"/>
              </a:rPr>
              <a:t>C0 Direct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2926080" cy="12618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30" b="0">
                <a:solidFill>
                  <a:srgbClr val="475569"/>
                </a:solidFill>
                <a:latin typeface="Yu Gothic"/>
              </a:rPr>
              <a:t>LLM由来コード生成の比較条件。現ハーネスでは直接実行を無効化し、ログのみ残す。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3375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73152" cy="1920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81912"/>
            <a:ext cx="29260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Yu Gothic"/>
              </a:rPr>
              <a:t>C2 Mission 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20240"/>
            <a:ext cx="2926080" cy="12618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30" b="0">
                <a:solidFill>
                  <a:srgbClr val="475569"/>
                </a:solidFill>
                <a:latin typeface="Yu Gothic"/>
              </a:rPr>
              <a:t>自然言語タスクを型付きIRへ変換し、ValidatorとEmitterを通して実行候補にする。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417320"/>
            <a:ext cx="33375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9560" y="1417320"/>
            <a:ext cx="73152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581912"/>
            <a:ext cx="29260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Yu Gothic"/>
              </a:rPr>
              <a:t>C6 Patch Harness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920240"/>
            <a:ext cx="2926080" cy="12618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30" b="0">
                <a:solidFill>
                  <a:srgbClr val="475569"/>
                </a:solidFill>
                <a:latin typeface="Yu Gothic"/>
              </a:rPr>
              <a:t>safe boundaryまで現ミッションを維持し、検証済みpatchを状態に適用する。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9966960" cy="1417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70">
                <a:solidFill>
                  <a:srgbClr val="0F172A"/>
                </a:solidFill>
                <a:latin typeface="Hiragino Sans"/>
              </a:defRPr>
            </a:pPr>
            <a:r>
              <a:t>評価ログ: task_id, condition_id, Mission IR, patch, validator_result, emitted_commands, sitl_result, telemetry_summary。</a:t>
            </a:r>
          </a:p>
          <a:p>
            <a:pPr>
              <a:spcAft>
                <a:spcPts val="700"/>
              </a:spcAft>
              <a:defRPr sz="1270">
                <a:solidFill>
                  <a:srgbClr val="0F172A"/>
                </a:solidFill>
                <a:latin typeface="Hiragino Sans"/>
              </a:defRPr>
            </a:pPr>
            <a:r>
              <a:t>主指標候補: 安全制約違反率、危険指示誤受理率、変更処理成功率、状態整合率。</a:t>
            </a:r>
          </a:p>
          <a:p>
            <a:pPr>
              <a:spcAft>
                <a:spcPts val="700"/>
              </a:spcAft>
              <a:defRPr sz="1270">
                <a:solidFill>
                  <a:srgbClr val="0F172A"/>
                </a:solidFill>
                <a:latin typeface="Hiragino Sans"/>
              </a:defRPr>
            </a:pPr>
            <a:r>
              <a:t>現状テスト: pytest 61 passed / ruff passed / dry-runでcommand分割を確認。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48463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Yu Gothic"/>
              </a:rPr>
              <a:t>Natural-Language UAV Mission Harness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Yu Gothic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Yu Gothic"/>
              </a:rPr>
              <a:t>確認済みファクトと未確認事項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9875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Yu Gothic"/>
              </a:rPr>
              <a:t>到達成功はまだ主張しない。生成成功とSITL実行成功を分離する。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73152" cy="1828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90472"/>
            <a:ext cx="48006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Yu Gothic"/>
              </a:rPr>
              <a:t>確認済み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4800600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30" b="0">
                <a:solidFill>
                  <a:srgbClr val="475569"/>
                </a:solidFill>
                <a:latin typeface="Yu Gothic"/>
              </a:rPr>
              <a:t>自然言語 -&gt; 地名解決 -&gt; Mission IR -&gt; Validator -&gt; 11分割command生成。約1.08km先の目標を約97.8mごとに分割。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4754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73152" cy="1828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90472"/>
            <a:ext cx="4343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Yu Gothic"/>
              </a:rPr>
              <a:t>未確認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4343400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30" b="0">
                <a:solidFill>
                  <a:srgbClr val="475569"/>
                </a:solidFill>
                <a:latin typeface="Yu Gothic"/>
              </a:rPr>
              <a:t>修正後の実装でSITLが目的地へ到達した実績はまだない。現在のSITLはPreflightで停止。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4160520"/>
            <a:ext cx="18288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/>
          <a:lstStyle/>
          <a:p>
            <a:pPr algn="ctr"/>
            <a:r>
              <a:rPr sz="1019">
                <a:solidFill>
                  <a:srgbClr val="0F172A"/>
                </a:solidFill>
                <a:latin typeface="Hiragino Sans"/>
              </a:rPr>
              <a:t>14552
heartbeatなし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4160520"/>
            <a:ext cx="18288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/>
          <a:lstStyle/>
          <a:p>
            <a:pPr algn="ctr"/>
            <a:r>
              <a:rPr sz="1019">
                <a:solidFill>
                  <a:srgbClr val="0F172A"/>
                </a:solidFill>
                <a:latin typeface="Hiragino Sans"/>
              </a:rPr>
              <a:t>14551
heartbeatなし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160520"/>
            <a:ext cx="2057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/>
          <a:lstStyle/>
          <a:p>
            <a:pPr algn="ctr"/>
            <a:r>
              <a:rPr sz="1019">
                <a:solidFill>
                  <a:srgbClr val="0F172A"/>
                </a:solidFill>
                <a:latin typeface="Hiragino Sans"/>
              </a:rPr>
              <a:t>14550
heartbeatあり / IN_AIR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4160520"/>
            <a:ext cx="2057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/>
          <a:lstStyle/>
          <a:p>
            <a:pPr algn="ctr"/>
            <a:r>
              <a:rPr sz="1019">
                <a:solidFill>
                  <a:srgbClr val="0F172A"/>
                </a:solidFill>
                <a:latin typeface="Hiragino Sans"/>
              </a:rPr>
              <a:t>command_count: 0
requires_sitl_reset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48463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Yu Gothic"/>
              </a:rPr>
              <a:t>Natural-Language UAV Mission Harness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Yu Gothic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Yu Gothic"/>
              </a:rPr>
              <a:t>次の作業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9875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Yu Gothic"/>
              </a:rPr>
              <a:t>SITLをリセットし、実到達ログを取って研究評価へ接続する。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234440"/>
            <a:ext cx="73152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399032"/>
            <a:ext cx="29260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Yu Gothic"/>
              </a:rPr>
              <a:t>1. SITL Reset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737360"/>
            <a:ext cx="292608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30" b="0">
                <a:solidFill>
                  <a:srgbClr val="475569"/>
                </a:solidFill>
                <a:latin typeface="Yu Gothic"/>
              </a:rPr>
              <a:t>地上・非armed・正常battery/failsafe状態へ戻す。QGroundControlでも確認。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23444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23444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399032"/>
            <a:ext cx="29260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Yu Gothic"/>
              </a:rPr>
              <a:t>2. Short 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737360"/>
            <a:ext cx="292608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30" b="0">
                <a:solidFill>
                  <a:srgbClr val="475569"/>
                </a:solidFill>
                <a:latin typeface="Yu Gothic"/>
              </a:rPr>
              <a:t>A地点など短距離でarm/takeoff/goto/landの健全性を確認。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23444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234440"/>
            <a:ext cx="73152" cy="1234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399032"/>
            <a:ext cx="29260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Yu Gothic"/>
              </a:rPr>
              <a:t>3. External Geo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737360"/>
            <a:ext cx="292608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30" b="0">
                <a:solidFill>
                  <a:srgbClr val="475569"/>
                </a:solidFill>
                <a:latin typeface="Yu Gothic"/>
              </a:rPr>
              <a:t>Alexander Maconochie Centreの長距離分割実行をログ化。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749039"/>
            <a:ext cx="9692640" cy="1417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  <a:latin typeface="Hiragino Sans"/>
              </a:defRPr>
            </a:pPr>
            <a:r>
              <a:t>成功時: segmentごとの到達、最終NED誤差、land完了、telemetry_summaryを評価ログに保存。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  <a:latin typeface="Hiragino Sans"/>
              </a:defRPr>
            </a:pPr>
            <a:r>
              <a:t>失敗時: failed_command、preflight、progress stall、reset_requiredを失敗分類として残す。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  <a:latin typeface="Hiragino Sans"/>
              </a:defRPr>
            </a:pPr>
            <a:r>
              <a:t>論文化観点: semantic success と execution success を分離して、ハーネス設計条件として示す。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48463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Yu Gothic"/>
              </a:rPr>
              <a:t>Natural-Language UAV Mission Harness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Yu Gothic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